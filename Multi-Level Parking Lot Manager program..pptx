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1" r:id="rId1"/>
  </p:sldMasterIdLst>
  <p:sldIdLst>
    <p:sldId id="256" r:id="rId2"/>
    <p:sldId id="257" r:id="rId3"/>
    <p:sldId id="258" r:id="rId4"/>
    <p:sldId id="259" r:id="rId5"/>
    <p:sldId id="260" r:id="rId6"/>
    <p:sldId id="261" r:id="rId7"/>
    <p:sldId id="264" r:id="rId8"/>
    <p:sldId id="265" r:id="rId9"/>
    <p:sldId id="266" r:id="rId10"/>
    <p:sldId id="262" r:id="rId11"/>
    <p:sldId id="263"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32B25D8-F561-4C93-AAD7-F6E705AB9B42}" type="datetimeFigureOut">
              <a:rPr lang="en-IN" smtClean="0"/>
              <a:t>15-10-2026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A4A23C3-B7C1-448A-A91E-14DE325BCFDC}" type="slidenum">
              <a:rPr lang="en-IN" smtClean="0"/>
              <a:t>‹#›</a:t>
            </a:fld>
            <a:endParaRPr lang="en-IN"/>
          </a:p>
        </p:txBody>
      </p:sp>
    </p:spTree>
    <p:extLst>
      <p:ext uri="{BB962C8B-B14F-4D97-AF65-F5344CB8AC3E}">
        <p14:creationId xmlns:p14="http://schemas.microsoft.com/office/powerpoint/2010/main" val="3634545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232B25D8-F561-4C93-AAD7-F6E705AB9B42}" type="datetimeFigureOut">
              <a:rPr lang="en-IN" smtClean="0"/>
              <a:t>15-10-2026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A4A23C3-B7C1-448A-A91E-14DE325BCFDC}" type="slidenum">
              <a:rPr lang="en-IN" smtClean="0"/>
              <a:t>‹#›</a:t>
            </a:fld>
            <a:endParaRPr lang="en-IN"/>
          </a:p>
        </p:txBody>
      </p:sp>
    </p:spTree>
    <p:extLst>
      <p:ext uri="{BB962C8B-B14F-4D97-AF65-F5344CB8AC3E}">
        <p14:creationId xmlns:p14="http://schemas.microsoft.com/office/powerpoint/2010/main" val="7246907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32B25D8-F561-4C93-AAD7-F6E705AB9B42}" type="datetimeFigureOut">
              <a:rPr lang="en-IN" smtClean="0"/>
              <a:t>15-10-2026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A4A23C3-B7C1-448A-A91E-14DE325BCFDC}" type="slidenum">
              <a:rPr lang="en-IN" smtClean="0"/>
              <a:t>‹#›</a:t>
            </a:fld>
            <a:endParaRPr lang="en-IN"/>
          </a:p>
        </p:txBody>
      </p:sp>
    </p:spTree>
    <p:extLst>
      <p:ext uri="{BB962C8B-B14F-4D97-AF65-F5344CB8AC3E}">
        <p14:creationId xmlns:p14="http://schemas.microsoft.com/office/powerpoint/2010/main" val="2388808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32B25D8-F561-4C93-AAD7-F6E705AB9B42}" type="datetimeFigureOut">
              <a:rPr lang="en-IN" smtClean="0"/>
              <a:t>15-10-2026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A4A23C3-B7C1-448A-A91E-14DE325BCFDC}" type="slidenum">
              <a:rPr lang="en-IN" smtClean="0"/>
              <a:t>‹#›</a:t>
            </a:fld>
            <a:endParaRPr lang="en-IN"/>
          </a:p>
        </p:txBody>
      </p:sp>
    </p:spTree>
    <p:extLst>
      <p:ext uri="{BB962C8B-B14F-4D97-AF65-F5344CB8AC3E}">
        <p14:creationId xmlns:p14="http://schemas.microsoft.com/office/powerpoint/2010/main" val="26456723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32B25D8-F561-4C93-AAD7-F6E705AB9B42}" type="datetimeFigureOut">
              <a:rPr lang="en-IN" smtClean="0"/>
              <a:t>15-10-2026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A4A23C3-B7C1-448A-A91E-14DE325BCFDC}" type="slidenum">
              <a:rPr lang="en-IN" smtClean="0"/>
              <a:t>‹#›</a:t>
            </a:fld>
            <a:endParaRPr lang="en-IN"/>
          </a:p>
        </p:txBody>
      </p:sp>
    </p:spTree>
    <p:extLst>
      <p:ext uri="{BB962C8B-B14F-4D97-AF65-F5344CB8AC3E}">
        <p14:creationId xmlns:p14="http://schemas.microsoft.com/office/powerpoint/2010/main" val="3192539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232B25D8-F561-4C93-AAD7-F6E705AB9B42}" type="datetimeFigureOut">
              <a:rPr lang="en-IN" smtClean="0"/>
              <a:t>15-10-2026</a:t>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6A4A23C3-B7C1-448A-A91E-14DE325BCFDC}" type="slidenum">
              <a:rPr lang="en-IN" smtClean="0"/>
              <a:t>‹#›</a:t>
            </a:fld>
            <a:endParaRPr lang="en-IN"/>
          </a:p>
        </p:txBody>
      </p:sp>
    </p:spTree>
    <p:extLst>
      <p:ext uri="{BB962C8B-B14F-4D97-AF65-F5344CB8AC3E}">
        <p14:creationId xmlns:p14="http://schemas.microsoft.com/office/powerpoint/2010/main" val="34764000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232B25D8-F561-4C93-AAD7-F6E705AB9B42}" type="datetimeFigureOut">
              <a:rPr lang="en-IN" smtClean="0"/>
              <a:t>15-10-2026</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6A4A23C3-B7C1-448A-A91E-14DE325BCFDC}" type="slidenum">
              <a:rPr lang="en-IN" smtClean="0"/>
              <a:t>‹#›</a:t>
            </a:fld>
            <a:endParaRPr lang="en-IN"/>
          </a:p>
        </p:txBody>
      </p:sp>
    </p:spTree>
    <p:extLst>
      <p:ext uri="{BB962C8B-B14F-4D97-AF65-F5344CB8AC3E}">
        <p14:creationId xmlns:p14="http://schemas.microsoft.com/office/powerpoint/2010/main" val="18813509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232B25D8-F561-4C93-AAD7-F6E705AB9B42}" type="datetimeFigureOut">
              <a:rPr lang="en-IN" smtClean="0"/>
              <a:t>15-10-2026</a:t>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6A4A23C3-B7C1-448A-A91E-14DE325BCFDC}" type="slidenum">
              <a:rPr lang="en-IN" smtClean="0"/>
              <a:t>‹#›</a:t>
            </a:fld>
            <a:endParaRPr lang="en-IN"/>
          </a:p>
        </p:txBody>
      </p:sp>
    </p:spTree>
    <p:extLst>
      <p:ext uri="{BB962C8B-B14F-4D97-AF65-F5344CB8AC3E}">
        <p14:creationId xmlns:p14="http://schemas.microsoft.com/office/powerpoint/2010/main" val="20836845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32B25D8-F561-4C93-AAD7-F6E705AB9B42}" type="datetimeFigureOut">
              <a:rPr lang="en-IN" smtClean="0"/>
              <a:t>15-10-2026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A4A23C3-B7C1-448A-A91E-14DE325BCFDC}" type="slidenum">
              <a:rPr lang="en-IN" smtClean="0"/>
              <a:t>‹#›</a:t>
            </a:fld>
            <a:endParaRPr lang="en-IN"/>
          </a:p>
        </p:txBody>
      </p:sp>
    </p:spTree>
    <p:extLst>
      <p:ext uri="{BB962C8B-B14F-4D97-AF65-F5344CB8AC3E}">
        <p14:creationId xmlns:p14="http://schemas.microsoft.com/office/powerpoint/2010/main" val="12876246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32B25D8-F561-4C93-AAD7-F6E705AB9B42}" type="datetimeFigureOut">
              <a:rPr lang="en-IN" smtClean="0"/>
              <a:t>15-10-2026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A4A23C3-B7C1-448A-A91E-14DE325BCFDC}" type="slidenum">
              <a:rPr lang="en-IN" smtClean="0"/>
              <a:t>‹#›</a:t>
            </a:fld>
            <a:endParaRPr lang="en-IN"/>
          </a:p>
        </p:txBody>
      </p:sp>
    </p:spTree>
    <p:extLst>
      <p:ext uri="{BB962C8B-B14F-4D97-AF65-F5344CB8AC3E}">
        <p14:creationId xmlns:p14="http://schemas.microsoft.com/office/powerpoint/2010/main" val="9911919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232B25D8-F561-4C93-AAD7-F6E705AB9B42}" type="datetimeFigureOut">
              <a:rPr lang="en-IN" smtClean="0"/>
              <a:t>15-10-2026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A4A23C3-B7C1-448A-A91E-14DE325BCFDC}" type="slidenum">
              <a:rPr lang="en-IN" smtClean="0"/>
              <a:t>‹#›</a:t>
            </a:fld>
            <a:endParaRPr lang="en-IN"/>
          </a:p>
        </p:txBody>
      </p:sp>
    </p:spTree>
    <p:extLst>
      <p:ext uri="{BB962C8B-B14F-4D97-AF65-F5344CB8AC3E}">
        <p14:creationId xmlns:p14="http://schemas.microsoft.com/office/powerpoint/2010/main" val="16605513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232B25D8-F561-4C93-AAD7-F6E705AB9B42}" type="datetimeFigureOut">
              <a:rPr lang="en-IN" smtClean="0"/>
              <a:t>15-10-2026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A4A23C3-B7C1-448A-A91E-14DE325BCFDC}" type="slidenum">
              <a:rPr lang="en-IN" smtClean="0"/>
              <a:t>‹#›</a:t>
            </a:fld>
            <a:endParaRPr lang="en-IN"/>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7429178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32B25D8-F561-4C93-AAD7-F6E705AB9B42}" type="datetimeFigureOut">
              <a:rPr lang="en-IN" smtClean="0"/>
              <a:t>15-10-2026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A4A23C3-B7C1-448A-A91E-14DE325BCFDC}" type="slidenum">
              <a:rPr lang="en-IN" smtClean="0"/>
              <a:t>‹#›</a:t>
            </a:fld>
            <a:endParaRPr lang="en-IN"/>
          </a:p>
        </p:txBody>
      </p:sp>
    </p:spTree>
    <p:extLst>
      <p:ext uri="{BB962C8B-B14F-4D97-AF65-F5344CB8AC3E}">
        <p14:creationId xmlns:p14="http://schemas.microsoft.com/office/powerpoint/2010/main" val="232075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232B25D8-F561-4C93-AAD7-F6E705AB9B42}" type="datetimeFigureOut">
              <a:rPr lang="en-IN" smtClean="0"/>
              <a:t>15-10-2026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A4A23C3-B7C1-448A-A91E-14DE325BCFDC}" type="slidenum">
              <a:rPr lang="en-IN" smtClean="0"/>
              <a:t>‹#›</a:t>
            </a:fld>
            <a:endParaRPr lang="en-IN"/>
          </a:p>
        </p:txBody>
      </p:sp>
    </p:spTree>
    <p:extLst>
      <p:ext uri="{BB962C8B-B14F-4D97-AF65-F5344CB8AC3E}">
        <p14:creationId xmlns:p14="http://schemas.microsoft.com/office/powerpoint/2010/main" val="333581015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232B25D8-F561-4C93-AAD7-F6E705AB9B42}" type="datetimeFigureOut">
              <a:rPr lang="en-IN" smtClean="0"/>
              <a:t>15-10-2026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A4A23C3-B7C1-448A-A91E-14DE325BCFDC}" type="slidenum">
              <a:rPr lang="en-IN" smtClean="0"/>
              <a:t>‹#›</a:t>
            </a:fld>
            <a:endParaRPr lang="en-IN"/>
          </a:p>
        </p:txBody>
      </p:sp>
    </p:spTree>
    <p:extLst>
      <p:ext uri="{BB962C8B-B14F-4D97-AF65-F5344CB8AC3E}">
        <p14:creationId xmlns:p14="http://schemas.microsoft.com/office/powerpoint/2010/main" val="7001915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32B25D8-F561-4C93-AAD7-F6E705AB9B42}" type="datetimeFigureOut">
              <a:rPr lang="en-IN" smtClean="0"/>
              <a:t>15-10-2026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A4A23C3-B7C1-448A-A91E-14DE325BCFDC}" type="slidenum">
              <a:rPr lang="en-IN" smtClean="0"/>
              <a:t>‹#›</a:t>
            </a:fld>
            <a:endParaRPr lang="en-IN"/>
          </a:p>
        </p:txBody>
      </p:sp>
    </p:spTree>
    <p:extLst>
      <p:ext uri="{BB962C8B-B14F-4D97-AF65-F5344CB8AC3E}">
        <p14:creationId xmlns:p14="http://schemas.microsoft.com/office/powerpoint/2010/main" val="36826355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32B25D8-F561-4C93-AAD7-F6E705AB9B42}" type="datetimeFigureOut">
              <a:rPr lang="en-IN" smtClean="0"/>
              <a:t>15-10-2026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A4A23C3-B7C1-448A-A91E-14DE325BCFDC}" type="slidenum">
              <a:rPr lang="en-IN" smtClean="0"/>
              <a:t>‹#›</a:t>
            </a:fld>
            <a:endParaRPr lang="en-IN"/>
          </a:p>
        </p:txBody>
      </p:sp>
    </p:spTree>
    <p:extLst>
      <p:ext uri="{BB962C8B-B14F-4D97-AF65-F5344CB8AC3E}">
        <p14:creationId xmlns:p14="http://schemas.microsoft.com/office/powerpoint/2010/main" val="3264526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232B25D8-F561-4C93-AAD7-F6E705AB9B42}" type="datetimeFigureOut">
              <a:rPr lang="en-IN" smtClean="0"/>
              <a:t>15-10-2026</a:t>
            </a:fld>
            <a:endParaRPr lang="en-IN"/>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6A4A23C3-B7C1-448A-A91E-14DE325BCFDC}" type="slidenum">
              <a:rPr lang="en-IN" smtClean="0"/>
              <a:t>‹#›</a:t>
            </a:fld>
            <a:endParaRPr lang="en-IN"/>
          </a:p>
        </p:txBody>
      </p:sp>
    </p:spTree>
    <p:extLst>
      <p:ext uri="{BB962C8B-B14F-4D97-AF65-F5344CB8AC3E}">
        <p14:creationId xmlns:p14="http://schemas.microsoft.com/office/powerpoint/2010/main" val="2910212078"/>
      </p:ext>
    </p:extLst>
  </p:cSld>
  <p:clrMap bg1="dk1" tx1="lt1" bg2="dk2" tx2="lt2" accent1="accent1" accent2="accent2" accent3="accent3" accent4="accent4" accent5="accent5" accent6="accent6" hlink="hlink" folHlink="folHlink"/>
  <p:sldLayoutIdLst>
    <p:sldLayoutId id="2147483782" r:id="rId1"/>
    <p:sldLayoutId id="2147483783" r:id="rId2"/>
    <p:sldLayoutId id="2147483784" r:id="rId3"/>
    <p:sldLayoutId id="2147483785" r:id="rId4"/>
    <p:sldLayoutId id="2147483786" r:id="rId5"/>
    <p:sldLayoutId id="2147483787" r:id="rId6"/>
    <p:sldLayoutId id="2147483788" r:id="rId7"/>
    <p:sldLayoutId id="2147483789" r:id="rId8"/>
    <p:sldLayoutId id="2147483790" r:id="rId9"/>
    <p:sldLayoutId id="2147483791" r:id="rId10"/>
    <p:sldLayoutId id="2147483792" r:id="rId11"/>
    <p:sldLayoutId id="2147483793" r:id="rId12"/>
    <p:sldLayoutId id="2147483794" r:id="rId13"/>
    <p:sldLayoutId id="2147483795" r:id="rId14"/>
    <p:sldLayoutId id="2147483796" r:id="rId15"/>
    <p:sldLayoutId id="2147483797" r:id="rId16"/>
    <p:sldLayoutId id="2147483798"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hyperlink" Target="https://github.com/vankayalapatisyanthanapriya-gif/Multi-Level-Parking-Lot-Manager"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847338-5698-BE50-15CA-FAFF7A996DAB}"/>
              </a:ext>
            </a:extLst>
          </p:cNvPr>
          <p:cNvSpPr>
            <a:spLocks noGrp="1"/>
          </p:cNvSpPr>
          <p:nvPr>
            <p:ph type="ctrTitle"/>
          </p:nvPr>
        </p:nvSpPr>
        <p:spPr/>
        <p:txBody>
          <a:bodyPr/>
          <a:lstStyle/>
          <a:p>
            <a:r>
              <a:rPr lang="en-IN" dirty="0">
                <a:latin typeface="Bahnschrift Condensed" panose="020B0502040204020203" pitchFamily="34" charset="0"/>
              </a:rPr>
              <a:t>Multi-Level Parking Lot Manager program </a:t>
            </a:r>
          </a:p>
        </p:txBody>
      </p:sp>
      <p:sp>
        <p:nvSpPr>
          <p:cNvPr id="3" name="Subtitle 2">
            <a:extLst>
              <a:ext uri="{FF2B5EF4-FFF2-40B4-BE49-F238E27FC236}">
                <a16:creationId xmlns:a16="http://schemas.microsoft.com/office/drawing/2014/main" id="{E758F43B-E3A9-7257-CEA4-7D01B5229ADE}"/>
              </a:ext>
            </a:extLst>
          </p:cNvPr>
          <p:cNvSpPr>
            <a:spLocks noGrp="1"/>
          </p:cNvSpPr>
          <p:nvPr>
            <p:ph type="subTitle" idx="1"/>
          </p:nvPr>
        </p:nvSpPr>
        <p:spPr/>
        <p:txBody>
          <a:bodyPr/>
          <a:lstStyle/>
          <a:p>
            <a:r>
              <a:rPr lang="en-IN" dirty="0"/>
              <a:t>V. Syanthana Priya -- 2620040031</a:t>
            </a:r>
          </a:p>
          <a:p>
            <a:r>
              <a:rPr lang="en-IN" dirty="0" err="1"/>
              <a:t>Kolasani.Dharani</a:t>
            </a:r>
            <a:r>
              <a:rPr lang="en-IN" dirty="0"/>
              <a:t> -- 2620040030</a:t>
            </a:r>
          </a:p>
          <a:p>
            <a:endParaRPr lang="en-IN" dirty="0"/>
          </a:p>
        </p:txBody>
      </p:sp>
    </p:spTree>
    <p:extLst>
      <p:ext uri="{BB962C8B-B14F-4D97-AF65-F5344CB8AC3E}">
        <p14:creationId xmlns:p14="http://schemas.microsoft.com/office/powerpoint/2010/main" val="17073358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5A45E-5AE5-D013-D761-C407AE53A7EE}"/>
              </a:ext>
            </a:extLst>
          </p:cNvPr>
          <p:cNvSpPr>
            <a:spLocks noGrp="1"/>
          </p:cNvSpPr>
          <p:nvPr>
            <p:ph type="title"/>
          </p:nvPr>
        </p:nvSpPr>
        <p:spPr/>
        <p:txBody>
          <a:bodyPr/>
          <a:lstStyle/>
          <a:p>
            <a:r>
              <a:rPr lang="en-IN" dirty="0">
                <a:latin typeface="Bahnschrift" panose="020B0502040204020203" pitchFamily="34" charset="0"/>
              </a:rPr>
              <a:t>Abstract</a:t>
            </a:r>
          </a:p>
        </p:txBody>
      </p:sp>
      <p:sp>
        <p:nvSpPr>
          <p:cNvPr id="3" name="Content Placeholder 2">
            <a:extLst>
              <a:ext uri="{FF2B5EF4-FFF2-40B4-BE49-F238E27FC236}">
                <a16:creationId xmlns:a16="http://schemas.microsoft.com/office/drawing/2014/main" id="{F6CF9916-A444-9D86-AC7D-AC4F53B13B77}"/>
              </a:ext>
            </a:extLst>
          </p:cNvPr>
          <p:cNvSpPr>
            <a:spLocks noGrp="1"/>
          </p:cNvSpPr>
          <p:nvPr>
            <p:ph idx="1"/>
          </p:nvPr>
        </p:nvSpPr>
        <p:spPr/>
        <p:txBody>
          <a:bodyPr>
            <a:normAutofit/>
          </a:bodyPr>
          <a:lstStyle/>
          <a:p>
            <a:r>
              <a:rPr lang="en-US" dirty="0">
                <a:latin typeface="Bahnschrift SemiBold Condensed" panose="020B0502040204020203" pitchFamily="34" charset="0"/>
              </a:rPr>
              <a:t>Multi-level parking lot manager This Multi-level parking lot manager project is an automated software system designed to manage smart, multistory parking garages. When a vehicle arrives at the entrance, the system checks its type—such as a motorcycle, standard car, large SUV, electric vehicle, or heavy vehicles(lorry/trucks) and instantly guides the driver to the nearest empty space. By using Java's built-in thread safety features, the system easily handles multiple entrance and exit gates at the exact same time without causing scheduling conflicts or assigning the same parking space to two different cars. On the business side, the system eliminates the need for manual paper ticketing and human cashiers. It records the exact minute a vehicle enters the garage, generates a digital tracking token, and automatically calculates the correct payment fee based on how long the vehicle parked and its size category upon exit. All of this information is saved securely in a database, providing parking lot owners with a live control dashboard to track total earnings, view current garage occupancy, and see peak traffic times.</a:t>
            </a:r>
            <a:endParaRPr lang="en-IN" dirty="0">
              <a:latin typeface="Bahnschrift SemiBold Condensed" panose="020B0502040204020203" pitchFamily="34" charset="0"/>
            </a:endParaRPr>
          </a:p>
        </p:txBody>
      </p:sp>
    </p:spTree>
    <p:extLst>
      <p:ext uri="{BB962C8B-B14F-4D97-AF65-F5344CB8AC3E}">
        <p14:creationId xmlns:p14="http://schemas.microsoft.com/office/powerpoint/2010/main" val="23206196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FAF7F0-20AC-72F8-16F9-FA03F1ABB652}"/>
              </a:ext>
            </a:extLst>
          </p:cNvPr>
          <p:cNvSpPr>
            <a:spLocks noGrp="1"/>
          </p:cNvSpPr>
          <p:nvPr>
            <p:ph type="title"/>
          </p:nvPr>
        </p:nvSpPr>
        <p:spPr/>
        <p:txBody>
          <a:bodyPr/>
          <a:lstStyle/>
          <a:p>
            <a:r>
              <a:rPr lang="en-IN" b="1" dirty="0"/>
              <a:t>📝 </a:t>
            </a:r>
            <a:r>
              <a:rPr lang="en-IN" dirty="0">
                <a:latin typeface="Bahnschrift" panose="020B0502040204020203" pitchFamily="34" charset="0"/>
              </a:rPr>
              <a:t>Understanding Problem Statement</a:t>
            </a:r>
          </a:p>
        </p:txBody>
      </p:sp>
      <p:sp>
        <p:nvSpPr>
          <p:cNvPr id="3" name="Content Placeholder 2">
            <a:extLst>
              <a:ext uri="{FF2B5EF4-FFF2-40B4-BE49-F238E27FC236}">
                <a16:creationId xmlns:a16="http://schemas.microsoft.com/office/drawing/2014/main" id="{D8575E37-47D8-ED1C-CA48-93600226A1E6}"/>
              </a:ext>
            </a:extLst>
          </p:cNvPr>
          <p:cNvSpPr>
            <a:spLocks noGrp="1"/>
          </p:cNvSpPr>
          <p:nvPr>
            <p:ph sz="half" idx="1"/>
          </p:nvPr>
        </p:nvSpPr>
        <p:spPr/>
        <p:txBody>
          <a:bodyPr>
            <a:normAutofit fontScale="62500" lnSpcReduction="20000"/>
          </a:bodyPr>
          <a:lstStyle/>
          <a:p>
            <a:pPr marL="0" indent="0">
              <a:buNone/>
            </a:pPr>
            <a:r>
              <a:rPr lang="en-IN" b="1" dirty="0">
                <a:latin typeface="Bahnschrift" panose="020B0502040204020203" pitchFamily="34" charset="0"/>
              </a:rPr>
              <a:t>🔹 </a:t>
            </a:r>
            <a:r>
              <a:rPr lang="en-IN" sz="1900" b="1" dirty="0">
                <a:latin typeface="Bahnschrift" panose="020B0502040204020203" pitchFamily="34" charset="0"/>
              </a:rPr>
              <a:t>Real-Life Scenario</a:t>
            </a:r>
          </a:p>
          <a:p>
            <a:pPr lvl="0"/>
            <a:r>
              <a:rPr lang="en-IN" sz="1900" dirty="0">
                <a:latin typeface="Bahnschrift" panose="020B0502040204020203" pitchFamily="34" charset="0"/>
              </a:rPr>
              <a:t>Parking lots have </a:t>
            </a:r>
            <a:r>
              <a:rPr lang="en-IN" sz="1900" b="1" dirty="0">
                <a:latin typeface="Bahnschrift" panose="020B0502040204020203" pitchFamily="34" charset="0"/>
              </a:rPr>
              <a:t>multiple levels</a:t>
            </a:r>
            <a:r>
              <a:rPr lang="en-IN" sz="1900" dirty="0">
                <a:latin typeface="Bahnschrift" panose="020B0502040204020203" pitchFamily="34" charset="0"/>
              </a:rPr>
              <a:t> with many spots.</a:t>
            </a:r>
          </a:p>
          <a:p>
            <a:pPr lvl="0"/>
            <a:r>
              <a:rPr lang="en-IN" sz="1900" dirty="0">
                <a:latin typeface="Bahnschrift" panose="020B0502040204020203" pitchFamily="34" charset="0"/>
              </a:rPr>
              <a:t>Cars need to be parked, removed, and tracked efficiently.</a:t>
            </a:r>
          </a:p>
          <a:p>
            <a:pPr lvl="0"/>
            <a:r>
              <a:rPr lang="en-IN" sz="1900" dirty="0">
                <a:latin typeface="Bahnschrift" panose="020B0502040204020203" pitchFamily="34" charset="0"/>
              </a:rPr>
              <a:t>Manual tracking is error-prone → automation is required.</a:t>
            </a:r>
          </a:p>
          <a:p>
            <a:pPr marL="0" indent="0">
              <a:buNone/>
            </a:pPr>
            <a:r>
              <a:rPr lang="en-IN" sz="1900" b="1" dirty="0">
                <a:latin typeface="Bahnschrift" panose="020B0502040204020203" pitchFamily="34" charset="0"/>
              </a:rPr>
              <a:t>🔹 Problem Definition</a:t>
            </a:r>
          </a:p>
          <a:p>
            <a:pPr lvl="0"/>
            <a:r>
              <a:rPr lang="en-IN" sz="1900" dirty="0">
                <a:latin typeface="Bahnschrift" panose="020B0502040204020203" pitchFamily="34" charset="0"/>
              </a:rPr>
              <a:t>Build a program to </a:t>
            </a:r>
            <a:r>
              <a:rPr lang="en-IN" sz="1900" b="1" dirty="0">
                <a:latin typeface="Bahnschrift" panose="020B0502040204020203" pitchFamily="34" charset="0"/>
              </a:rPr>
              <a:t>simulate a multi-level parking lot</a:t>
            </a:r>
            <a:r>
              <a:rPr lang="en-IN" sz="1900" dirty="0">
                <a:latin typeface="Bahnschrift" panose="020B0502040204020203" pitchFamily="34" charset="0"/>
              </a:rPr>
              <a:t>.</a:t>
            </a:r>
          </a:p>
          <a:p>
            <a:pPr lvl="0"/>
            <a:r>
              <a:rPr lang="en-IN" sz="1900" dirty="0">
                <a:latin typeface="Bahnschrift" panose="020B0502040204020203" pitchFamily="34" charset="0"/>
              </a:rPr>
              <a:t>Each spot can be </a:t>
            </a:r>
            <a:r>
              <a:rPr lang="en-IN" sz="1900" b="1" dirty="0">
                <a:latin typeface="Bahnschrift" panose="020B0502040204020203" pitchFamily="34" charset="0"/>
              </a:rPr>
              <a:t>empty or occupied</a:t>
            </a:r>
            <a:r>
              <a:rPr lang="en-IN" sz="1900" dirty="0">
                <a:latin typeface="Bahnschrift" panose="020B0502040204020203" pitchFamily="34" charset="0"/>
              </a:rPr>
              <a:t>.</a:t>
            </a:r>
          </a:p>
          <a:p>
            <a:pPr lvl="0"/>
            <a:r>
              <a:rPr lang="en-IN" sz="1900" dirty="0">
                <a:latin typeface="Bahnschrift" panose="020B0502040204020203" pitchFamily="34" charset="0"/>
              </a:rPr>
              <a:t>The system should allow users to:</a:t>
            </a:r>
          </a:p>
          <a:p>
            <a:pPr lvl="1"/>
            <a:r>
              <a:rPr lang="en-IN" sz="1900" dirty="0">
                <a:latin typeface="Bahnschrift" panose="020B0502040204020203" pitchFamily="34" charset="0"/>
              </a:rPr>
              <a:t>Park a car</a:t>
            </a:r>
          </a:p>
          <a:p>
            <a:pPr lvl="1"/>
            <a:r>
              <a:rPr lang="en-IN" sz="1900" dirty="0">
                <a:latin typeface="Bahnschrift" panose="020B0502040204020203" pitchFamily="34" charset="0"/>
              </a:rPr>
              <a:t>Remove a car</a:t>
            </a:r>
          </a:p>
          <a:p>
            <a:pPr lvl="1"/>
            <a:r>
              <a:rPr lang="en-IN" sz="1900" dirty="0">
                <a:latin typeface="Bahnschrift" panose="020B0502040204020203" pitchFamily="34" charset="0"/>
              </a:rPr>
              <a:t>Display parking status</a:t>
            </a:r>
          </a:p>
          <a:p>
            <a:pPr lvl="1"/>
            <a:r>
              <a:rPr lang="en-IN" sz="1900" dirty="0">
                <a:latin typeface="Bahnschrift" panose="020B0502040204020203" pitchFamily="34" charset="0"/>
              </a:rPr>
              <a:t>Find available spots</a:t>
            </a:r>
          </a:p>
          <a:p>
            <a:pPr marL="0" indent="0">
              <a:buNone/>
            </a:pPr>
            <a:r>
              <a:rPr lang="en-IN" sz="1900" b="1" dirty="0">
                <a:latin typeface="Bahnschrift" panose="020B0502040204020203" pitchFamily="34" charset="0"/>
              </a:rPr>
              <a:t>🔹 Computational Thinking Approach</a:t>
            </a:r>
          </a:p>
          <a:p>
            <a:pPr lvl="0"/>
            <a:r>
              <a:rPr lang="en-IN" sz="1900" b="1" dirty="0">
                <a:latin typeface="Bahnschrift" panose="020B0502040204020203" pitchFamily="34" charset="0"/>
              </a:rPr>
              <a:t>Decomposition</a:t>
            </a:r>
            <a:r>
              <a:rPr lang="en-IN" sz="1900" dirty="0">
                <a:latin typeface="Bahnschrift" panose="020B0502040204020203" pitchFamily="34" charset="0"/>
              </a:rPr>
              <a:t>: Break problem into smaller tasks (park, remove, display, search).</a:t>
            </a:r>
          </a:p>
          <a:p>
            <a:pPr lvl="1"/>
            <a:endParaRPr lang="en-IN" dirty="0"/>
          </a:p>
          <a:p>
            <a:endParaRPr lang="en-IN" dirty="0"/>
          </a:p>
        </p:txBody>
      </p:sp>
      <p:sp>
        <p:nvSpPr>
          <p:cNvPr id="4" name="Content Placeholder 3">
            <a:extLst>
              <a:ext uri="{FF2B5EF4-FFF2-40B4-BE49-F238E27FC236}">
                <a16:creationId xmlns:a16="http://schemas.microsoft.com/office/drawing/2014/main" id="{F26EF52D-4D74-9913-F378-B36C52D991C3}"/>
              </a:ext>
            </a:extLst>
          </p:cNvPr>
          <p:cNvSpPr>
            <a:spLocks noGrp="1"/>
          </p:cNvSpPr>
          <p:nvPr>
            <p:ph sz="half" idx="2"/>
          </p:nvPr>
        </p:nvSpPr>
        <p:spPr/>
        <p:txBody>
          <a:bodyPr>
            <a:noAutofit/>
          </a:bodyPr>
          <a:lstStyle/>
          <a:p>
            <a:pPr lvl="0"/>
            <a:r>
              <a:rPr lang="en-IN" sz="1200" b="1" dirty="0">
                <a:latin typeface="Bahnschrift" panose="020B0502040204020203" pitchFamily="34" charset="0"/>
              </a:rPr>
              <a:t>Algorithm &amp; Flowchart</a:t>
            </a:r>
            <a:r>
              <a:rPr lang="en-IN" sz="1200" dirty="0">
                <a:latin typeface="Bahnschrift" panose="020B0502040204020203" pitchFamily="34" charset="0"/>
              </a:rPr>
              <a:t>: Represent parking operations step by step.</a:t>
            </a:r>
          </a:p>
          <a:p>
            <a:pPr lvl="0"/>
            <a:r>
              <a:rPr lang="en-IN" sz="1200" b="1" dirty="0">
                <a:latin typeface="Bahnschrift" panose="020B0502040204020203" pitchFamily="34" charset="0"/>
              </a:rPr>
              <a:t>Mapping to Java</a:t>
            </a:r>
            <a:r>
              <a:rPr lang="en-IN" sz="1200" dirty="0">
                <a:latin typeface="Bahnschrift" panose="020B0502040204020203" pitchFamily="34" charset="0"/>
              </a:rPr>
              <a:t>: Use variables, arrays, loops, and methods to implement.</a:t>
            </a:r>
          </a:p>
          <a:p>
            <a:pPr marL="0" indent="0">
              <a:buNone/>
            </a:pPr>
            <a:r>
              <a:rPr lang="en-IN" sz="1200" b="1" dirty="0">
                <a:latin typeface="Bahnschrift" panose="020B0502040204020203" pitchFamily="34" charset="0"/>
              </a:rPr>
              <a:t>🔹 Key Challenges</a:t>
            </a:r>
          </a:p>
          <a:p>
            <a:pPr lvl="0"/>
            <a:r>
              <a:rPr lang="en-IN" sz="1200" dirty="0">
                <a:latin typeface="Bahnschrift" panose="020B0502040204020203" pitchFamily="34" charset="0"/>
              </a:rPr>
              <a:t>Representing parking lot structure (levels × spots).</a:t>
            </a:r>
          </a:p>
          <a:p>
            <a:pPr lvl="0"/>
            <a:r>
              <a:rPr lang="en-IN" sz="1200" dirty="0">
                <a:latin typeface="Bahnschrift" panose="020B0502040204020203" pitchFamily="34" charset="0"/>
              </a:rPr>
              <a:t>Handling </a:t>
            </a:r>
            <a:r>
              <a:rPr lang="en-IN" sz="1200" b="1" dirty="0">
                <a:latin typeface="Bahnschrift" panose="020B0502040204020203" pitchFamily="34" charset="0"/>
              </a:rPr>
              <a:t>user input</a:t>
            </a:r>
            <a:r>
              <a:rPr lang="en-IN" sz="1200" dirty="0">
                <a:latin typeface="Bahnschrift" panose="020B0502040204020203" pitchFamily="34" charset="0"/>
              </a:rPr>
              <a:t> and </a:t>
            </a:r>
            <a:r>
              <a:rPr lang="en-IN" sz="1200" b="1" dirty="0">
                <a:latin typeface="Bahnschrift" panose="020B0502040204020203" pitchFamily="34" charset="0"/>
              </a:rPr>
              <a:t>validations</a:t>
            </a:r>
            <a:r>
              <a:rPr lang="en-IN" sz="1200" dirty="0">
                <a:latin typeface="Bahnschrift" panose="020B0502040204020203" pitchFamily="34" charset="0"/>
              </a:rPr>
              <a:t>.</a:t>
            </a:r>
          </a:p>
          <a:p>
            <a:pPr lvl="0"/>
            <a:r>
              <a:rPr lang="en-IN" sz="1200" dirty="0">
                <a:latin typeface="Bahnschrift" panose="020B0502040204020203" pitchFamily="34" charset="0"/>
              </a:rPr>
              <a:t>Managing </a:t>
            </a:r>
            <a:r>
              <a:rPr lang="en-IN" sz="1200" b="1" dirty="0">
                <a:latin typeface="Bahnschrift" panose="020B0502040204020203" pitchFamily="34" charset="0"/>
              </a:rPr>
              <a:t>control flow</a:t>
            </a:r>
            <a:r>
              <a:rPr lang="en-IN" sz="1200" dirty="0">
                <a:latin typeface="Bahnschrift" panose="020B0502040204020203" pitchFamily="34" charset="0"/>
              </a:rPr>
              <a:t> (menus, loops, conditions).</a:t>
            </a:r>
          </a:p>
          <a:p>
            <a:pPr lvl="0"/>
            <a:r>
              <a:rPr lang="en-IN" sz="1200" dirty="0">
                <a:latin typeface="Bahnschrift" panose="020B0502040204020203" pitchFamily="34" charset="0"/>
              </a:rPr>
              <a:t>Using </a:t>
            </a:r>
            <a:r>
              <a:rPr lang="en-IN" sz="1200" b="1" dirty="0">
                <a:latin typeface="Bahnschrift" panose="020B0502040204020203" pitchFamily="34" charset="0"/>
              </a:rPr>
              <a:t>methods, arrays, recursion</a:t>
            </a:r>
            <a:r>
              <a:rPr lang="en-IN" sz="1200" dirty="0">
                <a:latin typeface="Bahnschrift" panose="020B0502040204020203" pitchFamily="34" charset="0"/>
              </a:rPr>
              <a:t> for modularity.</a:t>
            </a:r>
          </a:p>
          <a:p>
            <a:pPr marL="0" indent="0">
              <a:buNone/>
            </a:pPr>
            <a:r>
              <a:rPr lang="en-IN" sz="1200" b="1" dirty="0">
                <a:latin typeface="Bahnschrift" panose="020B0502040204020203" pitchFamily="34" charset="0"/>
              </a:rPr>
              <a:t>🔹 Expected Outcome</a:t>
            </a:r>
          </a:p>
          <a:p>
            <a:pPr lvl="0"/>
            <a:r>
              <a:rPr lang="en-IN" sz="1200" dirty="0">
                <a:latin typeface="Bahnschrift" panose="020B0502040204020203" pitchFamily="34" charset="0"/>
              </a:rPr>
              <a:t>A </a:t>
            </a:r>
            <a:r>
              <a:rPr lang="en-IN" sz="1200" b="1" dirty="0">
                <a:latin typeface="Bahnschrift" panose="020B0502040204020203" pitchFamily="34" charset="0"/>
              </a:rPr>
              <a:t>menu-driven Java program</a:t>
            </a:r>
            <a:r>
              <a:rPr lang="en-IN" sz="1200" dirty="0">
                <a:latin typeface="Bahnschrift" panose="020B0502040204020203" pitchFamily="34" charset="0"/>
              </a:rPr>
              <a:t>.</a:t>
            </a:r>
          </a:p>
          <a:p>
            <a:pPr lvl="0"/>
            <a:r>
              <a:rPr lang="en-IN" sz="1200" dirty="0">
                <a:latin typeface="Bahnschrift" panose="020B0502040204020203" pitchFamily="34" charset="0"/>
              </a:rPr>
              <a:t>Clear visualization of parking status (occupied vs. empty).</a:t>
            </a:r>
          </a:p>
          <a:p>
            <a:pPr lvl="0"/>
            <a:r>
              <a:rPr lang="en-IN" sz="1200" dirty="0">
                <a:latin typeface="Bahnschrift" panose="020B0502040204020203" pitchFamily="34" charset="0"/>
              </a:rPr>
              <a:t>Efficient search for available spots.</a:t>
            </a:r>
          </a:p>
          <a:p>
            <a:pPr lvl="0"/>
            <a:r>
              <a:rPr lang="en-IN" sz="1200" dirty="0">
                <a:latin typeface="Bahnschrift" panose="020B0502040204020203" pitchFamily="34" charset="0"/>
              </a:rPr>
              <a:t>Scalable design for multiple levels.</a:t>
            </a:r>
          </a:p>
          <a:p>
            <a:endParaRPr lang="en-IN" sz="1200" dirty="0"/>
          </a:p>
        </p:txBody>
      </p:sp>
    </p:spTree>
    <p:extLst>
      <p:ext uri="{BB962C8B-B14F-4D97-AF65-F5344CB8AC3E}">
        <p14:creationId xmlns:p14="http://schemas.microsoft.com/office/powerpoint/2010/main" val="11357848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3998AD-2DD8-C4D4-E79D-A42DB5F85873}"/>
              </a:ext>
            </a:extLst>
          </p:cNvPr>
          <p:cNvSpPr>
            <a:spLocks noGrp="1"/>
          </p:cNvSpPr>
          <p:nvPr>
            <p:ph type="title"/>
          </p:nvPr>
        </p:nvSpPr>
        <p:spPr/>
        <p:txBody>
          <a:bodyPr>
            <a:normAutofit/>
          </a:bodyPr>
          <a:lstStyle/>
          <a:p>
            <a:r>
              <a:rPr lang="en-IN" dirty="0">
                <a:latin typeface="Bahnschrift" panose="020B0502040204020203" pitchFamily="34" charset="0"/>
              </a:rPr>
              <a:t>CO 1 Topics</a:t>
            </a:r>
          </a:p>
        </p:txBody>
      </p:sp>
      <p:sp>
        <p:nvSpPr>
          <p:cNvPr id="6" name="Content Placeholder 5">
            <a:extLst>
              <a:ext uri="{FF2B5EF4-FFF2-40B4-BE49-F238E27FC236}">
                <a16:creationId xmlns:a16="http://schemas.microsoft.com/office/drawing/2014/main" id="{A8EBD57A-85B4-7FE1-67C6-9A7C2A7772B3}"/>
              </a:ext>
            </a:extLst>
          </p:cNvPr>
          <p:cNvSpPr>
            <a:spLocks noGrp="1"/>
          </p:cNvSpPr>
          <p:nvPr>
            <p:ph sz="half" idx="1"/>
          </p:nvPr>
        </p:nvSpPr>
        <p:spPr>
          <a:xfrm>
            <a:off x="1103312" y="1341121"/>
            <a:ext cx="4396339" cy="4915218"/>
          </a:xfrm>
        </p:spPr>
        <p:txBody>
          <a:bodyPr>
            <a:normAutofit fontScale="25000" lnSpcReduction="20000"/>
          </a:bodyPr>
          <a:lstStyle/>
          <a:p>
            <a:pPr marL="0" indent="0">
              <a:buNone/>
            </a:pPr>
            <a:r>
              <a:rPr lang="en-IN" sz="6200" b="1" dirty="0">
                <a:latin typeface="Bahnschrift" panose="020B0502040204020203" pitchFamily="34" charset="0"/>
              </a:rPr>
              <a:t> – From Problem to Program</a:t>
            </a:r>
          </a:p>
          <a:p>
            <a:pPr marL="0" indent="0">
              <a:buNone/>
            </a:pPr>
            <a:r>
              <a:rPr lang="en-IN" sz="6200" b="1" dirty="0">
                <a:latin typeface="Bahnschrift" panose="020B0502040204020203" pitchFamily="34" charset="0"/>
              </a:rPr>
              <a:t>🔹 Introduction to Problem Solving</a:t>
            </a:r>
          </a:p>
          <a:p>
            <a:pPr lvl="0"/>
            <a:r>
              <a:rPr lang="en-IN" sz="6200" dirty="0">
                <a:latin typeface="Bahnschrift" panose="020B0502040204020203" pitchFamily="34" charset="0"/>
              </a:rPr>
              <a:t>Computational thinking</a:t>
            </a:r>
          </a:p>
          <a:p>
            <a:pPr lvl="0"/>
            <a:r>
              <a:rPr lang="en-IN" sz="6200" dirty="0">
                <a:latin typeface="Bahnschrift" panose="020B0502040204020203" pitchFamily="34" charset="0"/>
              </a:rPr>
              <a:t>Algorithms &amp; flowcharts</a:t>
            </a:r>
          </a:p>
          <a:p>
            <a:pPr lvl="0"/>
            <a:r>
              <a:rPr lang="en-IN" sz="6200" dirty="0">
                <a:latin typeface="Bahnschrift" panose="020B0502040204020203" pitchFamily="34" charset="0"/>
              </a:rPr>
              <a:t>Mapping real-world problems to program logic</a:t>
            </a:r>
          </a:p>
          <a:p>
            <a:pPr marL="0" indent="0">
              <a:buNone/>
            </a:pPr>
            <a:r>
              <a:rPr lang="en-IN" sz="6200" b="1" dirty="0">
                <a:latin typeface="Bahnschrift" panose="020B0502040204020203" pitchFamily="34" charset="0"/>
              </a:rPr>
              <a:t>🔹 Java Environment &amp; Structure</a:t>
            </a:r>
          </a:p>
          <a:p>
            <a:pPr lvl="0"/>
            <a:r>
              <a:rPr lang="en-IN" sz="6200" dirty="0">
                <a:latin typeface="Bahnschrift" panose="020B0502040204020203" pitchFamily="34" charset="0"/>
              </a:rPr>
              <a:t>Java setup and environment basics</a:t>
            </a:r>
          </a:p>
          <a:p>
            <a:pPr lvl="0"/>
            <a:r>
              <a:rPr lang="en-IN" sz="6200" dirty="0">
                <a:latin typeface="Bahnschrift" panose="020B0502040204020203" pitchFamily="34" charset="0"/>
              </a:rPr>
              <a:t>Anatomy of a Java program (class, main method)</a:t>
            </a:r>
          </a:p>
          <a:p>
            <a:pPr lvl="0"/>
            <a:r>
              <a:rPr lang="en-IN" sz="6200" dirty="0">
                <a:latin typeface="Bahnschrift" panose="020B0502040204020203" pitchFamily="34" charset="0"/>
              </a:rPr>
              <a:t>Syntax essentials</a:t>
            </a:r>
          </a:p>
          <a:p>
            <a:pPr marL="0" indent="0">
              <a:buNone/>
            </a:pPr>
            <a:r>
              <a:rPr lang="en-IN" sz="6200" b="1" dirty="0">
                <a:latin typeface="Bahnschrift" panose="020B0502040204020203" pitchFamily="34" charset="0"/>
              </a:rPr>
              <a:t>🔹 Programming Model</a:t>
            </a:r>
          </a:p>
          <a:p>
            <a:pPr lvl="0"/>
            <a:r>
              <a:rPr lang="en-IN" sz="6200" dirty="0">
                <a:latin typeface="Bahnschrift" panose="020B0502040204020203" pitchFamily="34" charset="0"/>
              </a:rPr>
              <a:t>Primitive data types (int, double, char, </a:t>
            </a:r>
            <a:r>
              <a:rPr lang="en-IN" sz="6200" dirty="0" err="1">
                <a:latin typeface="Bahnschrift" panose="020B0502040204020203" pitchFamily="34" charset="0"/>
              </a:rPr>
              <a:t>boolean</a:t>
            </a:r>
            <a:r>
              <a:rPr lang="en-IN" sz="6200" dirty="0">
                <a:latin typeface="Bahnschrift" panose="020B0502040204020203" pitchFamily="34" charset="0"/>
              </a:rPr>
              <a:t>)</a:t>
            </a:r>
          </a:p>
          <a:p>
            <a:endParaRPr lang="en-IN" dirty="0"/>
          </a:p>
        </p:txBody>
      </p:sp>
      <p:sp>
        <p:nvSpPr>
          <p:cNvPr id="8" name="Content Placeholder 7">
            <a:extLst>
              <a:ext uri="{FF2B5EF4-FFF2-40B4-BE49-F238E27FC236}">
                <a16:creationId xmlns:a16="http://schemas.microsoft.com/office/drawing/2014/main" id="{CEB703B8-3D78-8D00-C127-3AEF9ADC57DC}"/>
              </a:ext>
            </a:extLst>
          </p:cNvPr>
          <p:cNvSpPr>
            <a:spLocks noGrp="1"/>
          </p:cNvSpPr>
          <p:nvPr>
            <p:ph sz="half" idx="2"/>
          </p:nvPr>
        </p:nvSpPr>
        <p:spPr>
          <a:xfrm>
            <a:off x="5654493" y="863600"/>
            <a:ext cx="4396341" cy="5392737"/>
          </a:xfrm>
        </p:spPr>
        <p:txBody>
          <a:bodyPr>
            <a:normAutofit fontScale="25000" lnSpcReduction="20000"/>
          </a:bodyPr>
          <a:lstStyle/>
          <a:p>
            <a:pPr lvl="0"/>
            <a:r>
              <a:rPr lang="en-IN" sz="7200" dirty="0">
                <a:latin typeface="Bahnschrift" panose="020B0502040204020203" pitchFamily="34" charset="0"/>
              </a:rPr>
              <a:t>Variables, constants, identifiers, literals</a:t>
            </a:r>
          </a:p>
          <a:p>
            <a:pPr marL="0" indent="0">
              <a:buNone/>
            </a:pPr>
            <a:r>
              <a:rPr lang="en-IN" sz="7200" b="1" dirty="0">
                <a:latin typeface="Bahnschrift" panose="020B0502040204020203" pitchFamily="34" charset="0"/>
              </a:rPr>
              <a:t>🔹 Operators</a:t>
            </a:r>
          </a:p>
          <a:p>
            <a:pPr lvl="0"/>
            <a:r>
              <a:rPr lang="en-IN" sz="7200" dirty="0">
                <a:latin typeface="Bahnschrift" panose="020B0502040204020203" pitchFamily="34" charset="0"/>
              </a:rPr>
              <a:t>Arithmetic (+, -, *, /, %)</a:t>
            </a:r>
          </a:p>
          <a:p>
            <a:pPr lvl="0"/>
            <a:r>
              <a:rPr lang="en-IN" sz="7200" dirty="0">
                <a:latin typeface="Bahnschrift" panose="020B0502040204020203" pitchFamily="34" charset="0"/>
              </a:rPr>
              <a:t>Relational (&gt;, &lt;, ==, !=)</a:t>
            </a:r>
          </a:p>
          <a:p>
            <a:pPr lvl="0"/>
            <a:r>
              <a:rPr lang="en-IN" sz="7200" dirty="0">
                <a:latin typeface="Bahnschrift" panose="020B0502040204020203" pitchFamily="34" charset="0"/>
              </a:rPr>
              <a:t>Logical (&amp;&amp;, ||, !)</a:t>
            </a:r>
          </a:p>
          <a:p>
            <a:pPr lvl="0"/>
            <a:r>
              <a:rPr lang="en-IN" sz="7200" dirty="0">
                <a:latin typeface="Bahnschrift" panose="020B0502040204020203" pitchFamily="34" charset="0"/>
              </a:rPr>
              <a:t>Assignment (=, +=, -=)</a:t>
            </a:r>
          </a:p>
          <a:p>
            <a:pPr lvl="0"/>
            <a:r>
              <a:rPr lang="en-IN" sz="7200" dirty="0">
                <a:latin typeface="Bahnschrift" panose="020B0502040204020203" pitchFamily="34" charset="0"/>
              </a:rPr>
              <a:t>Unary &amp; ternary operators</a:t>
            </a:r>
          </a:p>
          <a:p>
            <a:pPr lvl="0"/>
            <a:r>
              <a:rPr lang="en-IN" sz="7200" dirty="0">
                <a:latin typeface="Bahnschrift" panose="020B0502040204020203" pitchFamily="34" charset="0"/>
              </a:rPr>
              <a:t>Bitwise operators</a:t>
            </a:r>
          </a:p>
          <a:p>
            <a:pPr marL="0" indent="0">
              <a:buNone/>
            </a:pPr>
            <a:r>
              <a:rPr lang="en-IN" sz="7200" b="1" dirty="0">
                <a:latin typeface="Bahnschrift" panose="020B0502040204020203" pitchFamily="34" charset="0"/>
              </a:rPr>
              <a:t>🔹 Typecasting &amp; Expression Evaluation</a:t>
            </a:r>
          </a:p>
          <a:p>
            <a:pPr lvl="0"/>
            <a:r>
              <a:rPr lang="en-IN" sz="7200" dirty="0">
                <a:latin typeface="Bahnschrift" panose="020B0502040204020203" pitchFamily="34" charset="0"/>
              </a:rPr>
              <a:t>Implicit vs. explicit typecasting</a:t>
            </a:r>
          </a:p>
          <a:p>
            <a:pPr lvl="0"/>
            <a:r>
              <a:rPr lang="en-IN" sz="7200" dirty="0">
                <a:latin typeface="Bahnschrift" panose="020B0502040204020203" pitchFamily="34" charset="0"/>
              </a:rPr>
              <a:t>Precedence &amp; associativity rules</a:t>
            </a:r>
          </a:p>
          <a:p>
            <a:pPr marL="0" indent="0">
              <a:buNone/>
            </a:pPr>
            <a:r>
              <a:rPr lang="en-IN" sz="7200" b="1" dirty="0">
                <a:latin typeface="Bahnschrift" panose="020B0502040204020203" pitchFamily="34" charset="0"/>
              </a:rPr>
              <a:t>🔹 Console I/O</a:t>
            </a:r>
          </a:p>
          <a:p>
            <a:pPr lvl="0"/>
            <a:r>
              <a:rPr lang="en-IN" sz="7200" dirty="0">
                <a:latin typeface="Bahnschrift" panose="020B0502040204020203" pitchFamily="34" charset="0"/>
              </a:rPr>
              <a:t>Formatted printing (</a:t>
            </a:r>
            <a:r>
              <a:rPr lang="en-IN" sz="7200" dirty="0" err="1">
                <a:latin typeface="Bahnschrift" panose="020B0502040204020203" pitchFamily="34" charset="0"/>
              </a:rPr>
              <a:t>System.out.println</a:t>
            </a:r>
            <a:r>
              <a:rPr lang="en-IN" sz="7200" dirty="0">
                <a:latin typeface="Bahnschrift" panose="020B0502040204020203" pitchFamily="34" charset="0"/>
              </a:rPr>
              <a:t>)</a:t>
            </a:r>
          </a:p>
          <a:p>
            <a:pPr lvl="0"/>
            <a:r>
              <a:rPr lang="en-IN" sz="7200" dirty="0">
                <a:latin typeface="Bahnschrift" panose="020B0502040204020203" pitchFamily="34" charset="0"/>
              </a:rPr>
              <a:t>Reading input with Scanner</a:t>
            </a:r>
          </a:p>
          <a:p>
            <a:endParaRPr lang="en-IN" dirty="0"/>
          </a:p>
        </p:txBody>
      </p:sp>
    </p:spTree>
    <p:extLst>
      <p:ext uri="{BB962C8B-B14F-4D97-AF65-F5344CB8AC3E}">
        <p14:creationId xmlns:p14="http://schemas.microsoft.com/office/powerpoint/2010/main" val="13843895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1E21CC-E5A5-AEE4-B3DC-F774D9E80553}"/>
              </a:ext>
            </a:extLst>
          </p:cNvPr>
          <p:cNvSpPr>
            <a:spLocks noGrp="1"/>
          </p:cNvSpPr>
          <p:nvPr>
            <p:ph type="title"/>
          </p:nvPr>
        </p:nvSpPr>
        <p:spPr/>
        <p:txBody>
          <a:bodyPr/>
          <a:lstStyle/>
          <a:p>
            <a:r>
              <a:rPr lang="en-IN" dirty="0">
                <a:latin typeface="Bahnschrift" panose="020B0502040204020203" pitchFamily="34" charset="0"/>
              </a:rPr>
              <a:t>CO 2 Topics</a:t>
            </a:r>
            <a:endParaRPr lang="en-IN" dirty="0"/>
          </a:p>
        </p:txBody>
      </p:sp>
      <p:sp>
        <p:nvSpPr>
          <p:cNvPr id="3" name="Content Placeholder 2">
            <a:extLst>
              <a:ext uri="{FF2B5EF4-FFF2-40B4-BE49-F238E27FC236}">
                <a16:creationId xmlns:a16="http://schemas.microsoft.com/office/drawing/2014/main" id="{FC0934D2-B60C-B444-1DC4-1FD602FED06D}"/>
              </a:ext>
            </a:extLst>
          </p:cNvPr>
          <p:cNvSpPr>
            <a:spLocks noGrp="1"/>
          </p:cNvSpPr>
          <p:nvPr>
            <p:ph sz="half" idx="1"/>
          </p:nvPr>
        </p:nvSpPr>
        <p:spPr>
          <a:xfrm>
            <a:off x="1103312" y="1198880"/>
            <a:ext cx="4396339" cy="5206401"/>
          </a:xfrm>
        </p:spPr>
        <p:txBody>
          <a:bodyPr>
            <a:normAutofit fontScale="25000" lnSpcReduction="20000"/>
          </a:bodyPr>
          <a:lstStyle/>
          <a:p>
            <a:pPr marL="0" indent="0">
              <a:buNone/>
            </a:pPr>
            <a:endParaRPr lang="en-IN" dirty="0">
              <a:latin typeface="Bahnschrift" panose="020B0502040204020203" pitchFamily="34" charset="0"/>
            </a:endParaRPr>
          </a:p>
          <a:p>
            <a:pPr marL="0" indent="0">
              <a:buNone/>
            </a:pPr>
            <a:r>
              <a:rPr lang="en-IN" sz="5500" b="1" dirty="0">
                <a:latin typeface="Bahnschrift" panose="020B0502040204020203" pitchFamily="34" charset="0"/>
              </a:rPr>
              <a:t>– Control Flow: Selection &amp; Iteration</a:t>
            </a:r>
          </a:p>
          <a:p>
            <a:pPr marL="0" indent="0">
              <a:buNone/>
            </a:pPr>
            <a:r>
              <a:rPr lang="en-IN" sz="5500" b="1" dirty="0">
                <a:latin typeface="Bahnschrift" panose="020B0502040204020203" pitchFamily="34" charset="0"/>
              </a:rPr>
              <a:t>🔹 Conditional Statements</a:t>
            </a:r>
          </a:p>
          <a:p>
            <a:pPr lvl="0"/>
            <a:r>
              <a:rPr lang="en-IN" sz="5500" dirty="0">
                <a:latin typeface="Bahnschrift" panose="020B0502040204020203" pitchFamily="34" charset="0"/>
              </a:rPr>
              <a:t>if, if-else, nested-if</a:t>
            </a:r>
          </a:p>
          <a:p>
            <a:pPr lvl="0"/>
            <a:r>
              <a:rPr lang="en-IN" sz="5500" dirty="0">
                <a:latin typeface="Bahnschrift" panose="020B0502040204020203" pitchFamily="34" charset="0"/>
              </a:rPr>
              <a:t>if-else-if ladder</a:t>
            </a:r>
          </a:p>
          <a:p>
            <a:pPr lvl="0"/>
            <a:r>
              <a:rPr lang="en-IN" sz="5500" dirty="0">
                <a:latin typeface="Bahnschrift" panose="020B0502040204020203" pitchFamily="34" charset="0"/>
              </a:rPr>
              <a:t>switch statement (with default, break)</a:t>
            </a:r>
          </a:p>
          <a:p>
            <a:pPr marL="0" indent="0">
              <a:buNone/>
            </a:pPr>
            <a:r>
              <a:rPr lang="en-IN" sz="5500" b="1" dirty="0">
                <a:latin typeface="Bahnschrift" panose="020B0502040204020203" pitchFamily="34" charset="0"/>
              </a:rPr>
              <a:t>🔹 Loops</a:t>
            </a:r>
          </a:p>
          <a:p>
            <a:pPr lvl="0"/>
            <a:r>
              <a:rPr lang="en-IN" sz="5500" dirty="0">
                <a:latin typeface="Bahnschrift" panose="020B0502040204020203" pitchFamily="34" charset="0"/>
              </a:rPr>
              <a:t>while loop</a:t>
            </a:r>
          </a:p>
          <a:p>
            <a:pPr lvl="0"/>
            <a:r>
              <a:rPr lang="en-IN" sz="5500" dirty="0">
                <a:latin typeface="Bahnschrift" panose="020B0502040204020203" pitchFamily="34" charset="0"/>
              </a:rPr>
              <a:t>do-while loop</a:t>
            </a:r>
          </a:p>
          <a:p>
            <a:pPr lvl="0"/>
            <a:r>
              <a:rPr lang="en-IN" sz="5500" dirty="0">
                <a:latin typeface="Bahnschrift" panose="020B0502040204020203" pitchFamily="34" charset="0"/>
              </a:rPr>
              <a:t>for loop</a:t>
            </a:r>
          </a:p>
          <a:p>
            <a:pPr lvl="0"/>
            <a:r>
              <a:rPr lang="en-IN" sz="5500" dirty="0">
                <a:latin typeface="Bahnschrift" panose="020B0502040204020203" pitchFamily="34" charset="0"/>
              </a:rPr>
              <a:t>continue statement</a:t>
            </a:r>
          </a:p>
          <a:p>
            <a:pPr lvl="0"/>
            <a:r>
              <a:rPr lang="en-IN" sz="5500" dirty="0">
                <a:latin typeface="Bahnschrift" panose="020B0502040204020203" pitchFamily="34" charset="0"/>
              </a:rPr>
              <a:t>Infinite loops &amp; nested loops</a:t>
            </a:r>
          </a:p>
          <a:p>
            <a:pPr marL="0" indent="0">
              <a:buNone/>
            </a:pPr>
            <a:r>
              <a:rPr lang="en-IN" sz="5500" b="1" dirty="0">
                <a:latin typeface="Bahnschrift" panose="020B0502040204020203" pitchFamily="34" charset="0"/>
              </a:rPr>
              <a:t>🔹 Application in Parking Lot Manager</a:t>
            </a:r>
          </a:p>
          <a:p>
            <a:pPr lvl="0"/>
            <a:r>
              <a:rPr lang="en-IN" sz="5500" dirty="0">
                <a:latin typeface="Bahnschrift" panose="020B0502040204020203" pitchFamily="34" charset="0"/>
              </a:rPr>
              <a:t>Menu-driven program using switch</a:t>
            </a:r>
          </a:p>
          <a:p>
            <a:pPr lvl="0"/>
            <a:r>
              <a:rPr lang="en-IN" sz="5500" dirty="0">
                <a:latin typeface="Bahnschrift" panose="020B0502040204020203" pitchFamily="34" charset="0"/>
              </a:rPr>
              <a:t>Validating parking spot availability with if-else</a:t>
            </a:r>
          </a:p>
          <a:p>
            <a:pPr lvl="0"/>
            <a:r>
              <a:rPr lang="en-IN" sz="5500" dirty="0">
                <a:latin typeface="Bahnschrift" panose="020B0502040204020203" pitchFamily="34" charset="0"/>
              </a:rPr>
              <a:t>Iterating through levels/spots with for loops</a:t>
            </a:r>
          </a:p>
          <a:p>
            <a:endParaRPr lang="en-IN" dirty="0"/>
          </a:p>
        </p:txBody>
      </p:sp>
    </p:spTree>
    <p:extLst>
      <p:ext uri="{BB962C8B-B14F-4D97-AF65-F5344CB8AC3E}">
        <p14:creationId xmlns:p14="http://schemas.microsoft.com/office/powerpoint/2010/main" val="5956052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7FE51-7BC5-F50B-062E-426B7ADE34B8}"/>
              </a:ext>
            </a:extLst>
          </p:cNvPr>
          <p:cNvSpPr>
            <a:spLocks noGrp="1"/>
          </p:cNvSpPr>
          <p:nvPr>
            <p:ph type="title"/>
          </p:nvPr>
        </p:nvSpPr>
        <p:spPr/>
        <p:txBody>
          <a:bodyPr/>
          <a:lstStyle/>
          <a:p>
            <a:r>
              <a:rPr lang="en-IN" dirty="0">
                <a:latin typeface="Bahnschrift" panose="020B0502040204020203" pitchFamily="34" charset="0"/>
              </a:rPr>
              <a:t>CO 3 Topics</a:t>
            </a:r>
            <a:endParaRPr lang="en-IN" dirty="0"/>
          </a:p>
        </p:txBody>
      </p:sp>
      <p:sp>
        <p:nvSpPr>
          <p:cNvPr id="4" name="Content Placeholder 3">
            <a:extLst>
              <a:ext uri="{FF2B5EF4-FFF2-40B4-BE49-F238E27FC236}">
                <a16:creationId xmlns:a16="http://schemas.microsoft.com/office/drawing/2014/main" id="{4B9354B3-0BD6-530F-12CB-39C2463BB60B}"/>
              </a:ext>
            </a:extLst>
          </p:cNvPr>
          <p:cNvSpPr>
            <a:spLocks noGrp="1"/>
          </p:cNvSpPr>
          <p:nvPr>
            <p:ph sz="half" idx="2"/>
          </p:nvPr>
        </p:nvSpPr>
        <p:spPr>
          <a:xfrm>
            <a:off x="1103312" y="1381760"/>
            <a:ext cx="4396339" cy="4874578"/>
          </a:xfrm>
        </p:spPr>
        <p:txBody>
          <a:bodyPr>
            <a:normAutofit fontScale="25000" lnSpcReduction="20000"/>
          </a:bodyPr>
          <a:lstStyle/>
          <a:p>
            <a:pPr marL="0" indent="0">
              <a:buNone/>
            </a:pPr>
            <a:r>
              <a:rPr lang="en-IN" sz="4900" b="1" dirty="0"/>
              <a:t>– </a:t>
            </a:r>
            <a:r>
              <a:rPr lang="en-IN" sz="4900" b="1" dirty="0">
                <a:latin typeface="Bahnschrift" panose="020B0502040204020203" pitchFamily="34" charset="0"/>
              </a:rPr>
              <a:t>Decomposition with Methods, Recursion &amp; Arrays</a:t>
            </a:r>
          </a:p>
          <a:p>
            <a:pPr marL="0" indent="0">
              <a:buNone/>
            </a:pPr>
            <a:r>
              <a:rPr lang="en-IN" sz="4900" b="1" dirty="0">
                <a:latin typeface="Bahnschrift" panose="020B0502040204020203" pitchFamily="34" charset="0"/>
              </a:rPr>
              <a:t>🔹 Modular Programming</a:t>
            </a:r>
          </a:p>
          <a:p>
            <a:pPr lvl="0"/>
            <a:r>
              <a:rPr lang="en-IN" sz="4900" dirty="0">
                <a:latin typeface="Bahnschrift" panose="020B0502040204020203" pitchFamily="34" charset="0"/>
              </a:rPr>
              <a:t>Defining methods</a:t>
            </a:r>
          </a:p>
          <a:p>
            <a:pPr lvl="0"/>
            <a:r>
              <a:rPr lang="en-IN" sz="4900" dirty="0">
                <a:latin typeface="Bahnschrift" panose="020B0502040204020203" pitchFamily="34" charset="0"/>
              </a:rPr>
              <a:t>Method invocation</a:t>
            </a:r>
          </a:p>
          <a:p>
            <a:pPr lvl="0"/>
            <a:r>
              <a:rPr lang="en-IN" sz="4900" dirty="0">
                <a:latin typeface="Bahnschrift" panose="020B0502040204020203" pitchFamily="34" charset="0"/>
              </a:rPr>
              <a:t>Parameter passing &amp; return values</a:t>
            </a:r>
          </a:p>
          <a:p>
            <a:pPr lvl="0"/>
            <a:r>
              <a:rPr lang="en-IN" sz="4900" dirty="0">
                <a:latin typeface="Bahnschrift" panose="020B0502040204020203" pitchFamily="34" charset="0"/>
              </a:rPr>
              <a:t>Method overloading</a:t>
            </a:r>
          </a:p>
          <a:p>
            <a:pPr marL="0" indent="0">
              <a:buNone/>
            </a:pPr>
            <a:r>
              <a:rPr lang="en-IN" sz="4900" b="1" dirty="0">
                <a:latin typeface="Bahnschrift" panose="020B0502040204020203" pitchFamily="34" charset="0"/>
              </a:rPr>
              <a:t>🔹 Arrays</a:t>
            </a:r>
          </a:p>
          <a:p>
            <a:pPr lvl="0"/>
            <a:r>
              <a:rPr lang="en-IN" sz="4900" dirty="0">
                <a:latin typeface="Bahnschrift" panose="020B0502040204020203" pitchFamily="34" charset="0"/>
              </a:rPr>
              <a:t>1D arrays: traversal, searching, summation, average, counting techniques</a:t>
            </a:r>
          </a:p>
          <a:p>
            <a:pPr lvl="0"/>
            <a:r>
              <a:rPr lang="en-IN" sz="4900" dirty="0">
                <a:latin typeface="Bahnschrift" panose="020B0502040204020203" pitchFamily="34" charset="0"/>
              </a:rPr>
              <a:t>2D arrays: matrix arithmetic, parking lot representation</a:t>
            </a:r>
          </a:p>
          <a:p>
            <a:pPr marL="0" indent="0">
              <a:buNone/>
            </a:pPr>
            <a:r>
              <a:rPr lang="en-IN" sz="4900" b="1" dirty="0">
                <a:latin typeface="Bahnschrift" panose="020B0502040204020203" pitchFamily="34" charset="0"/>
              </a:rPr>
              <a:t>🔹 Recursion</a:t>
            </a:r>
          </a:p>
          <a:p>
            <a:pPr lvl="0"/>
            <a:r>
              <a:rPr lang="en-IN" sz="4900" dirty="0">
                <a:latin typeface="Bahnschrift" panose="020B0502040204020203" pitchFamily="34" charset="0"/>
              </a:rPr>
              <a:t>Base case &amp; recursive case</a:t>
            </a:r>
          </a:p>
          <a:p>
            <a:pPr lvl="0"/>
            <a:r>
              <a:rPr lang="en-IN" sz="4900" dirty="0">
                <a:latin typeface="Bahnschrift" panose="020B0502040204020203" pitchFamily="34" charset="0"/>
              </a:rPr>
              <a:t>Recursive search for empty parking spot</a:t>
            </a:r>
          </a:p>
          <a:p>
            <a:pPr marL="0" indent="0">
              <a:buNone/>
            </a:pPr>
            <a:r>
              <a:rPr lang="en-IN" sz="4900" b="1" dirty="0">
                <a:latin typeface="Bahnschrift" panose="020B0502040204020203" pitchFamily="34" charset="0"/>
              </a:rPr>
              <a:t>🔹 Application in Parking Lot Manager</a:t>
            </a:r>
          </a:p>
          <a:p>
            <a:pPr lvl="0"/>
            <a:r>
              <a:rPr lang="en-IN" sz="4900" dirty="0">
                <a:latin typeface="Bahnschrift" panose="020B0502040204020203" pitchFamily="34" charset="0"/>
              </a:rPr>
              <a:t>Separate methods for </a:t>
            </a:r>
            <a:r>
              <a:rPr lang="en-IN" sz="4900" b="1" dirty="0" err="1">
                <a:latin typeface="Bahnschrift" panose="020B0502040204020203" pitchFamily="34" charset="0"/>
              </a:rPr>
              <a:t>parkCar</a:t>
            </a:r>
            <a:r>
              <a:rPr lang="en-IN" sz="4900" dirty="0">
                <a:latin typeface="Bahnschrift" panose="020B0502040204020203" pitchFamily="34" charset="0"/>
              </a:rPr>
              <a:t>, </a:t>
            </a:r>
            <a:r>
              <a:rPr lang="en-IN" sz="4900" b="1" dirty="0" err="1">
                <a:latin typeface="Bahnschrift" panose="020B0502040204020203" pitchFamily="34" charset="0"/>
              </a:rPr>
              <a:t>removeCar</a:t>
            </a:r>
            <a:r>
              <a:rPr lang="en-IN" sz="4900" dirty="0">
                <a:latin typeface="Bahnschrift" panose="020B0502040204020203" pitchFamily="34" charset="0"/>
              </a:rPr>
              <a:t>, </a:t>
            </a:r>
            <a:r>
              <a:rPr lang="en-IN" sz="4900" b="1" dirty="0" err="1">
                <a:latin typeface="Bahnschrift" panose="020B0502040204020203" pitchFamily="34" charset="0"/>
              </a:rPr>
              <a:t>displayParking</a:t>
            </a:r>
            <a:endParaRPr lang="en-IN" sz="4900" dirty="0">
              <a:latin typeface="Bahnschrift" panose="020B0502040204020203" pitchFamily="34" charset="0"/>
            </a:endParaRPr>
          </a:p>
          <a:p>
            <a:pPr lvl="0"/>
            <a:r>
              <a:rPr lang="en-IN" sz="4900" dirty="0">
                <a:latin typeface="Bahnschrift" panose="020B0502040204020203" pitchFamily="34" charset="0"/>
              </a:rPr>
              <a:t>2D array to represent multi-level parking structure</a:t>
            </a:r>
          </a:p>
          <a:p>
            <a:pPr marL="0" indent="0">
              <a:buNone/>
            </a:pPr>
            <a:endParaRPr lang="en-IN" dirty="0"/>
          </a:p>
        </p:txBody>
      </p:sp>
    </p:spTree>
    <p:extLst>
      <p:ext uri="{BB962C8B-B14F-4D97-AF65-F5344CB8AC3E}">
        <p14:creationId xmlns:p14="http://schemas.microsoft.com/office/powerpoint/2010/main" val="22399629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E9522-35D1-2BE9-96A6-F1CE8388A8A1}"/>
              </a:ext>
            </a:extLst>
          </p:cNvPr>
          <p:cNvSpPr>
            <a:spLocks noGrp="1"/>
          </p:cNvSpPr>
          <p:nvPr>
            <p:ph type="title"/>
          </p:nvPr>
        </p:nvSpPr>
        <p:spPr/>
        <p:txBody>
          <a:bodyPr/>
          <a:lstStyle/>
          <a:p>
            <a:r>
              <a:rPr lang="en-IN" dirty="0">
                <a:latin typeface="Bahnschrift" panose="020B0502040204020203" pitchFamily="34" charset="0"/>
              </a:rPr>
              <a:t>CO 4 Topics</a:t>
            </a:r>
            <a:endParaRPr lang="en-IN" dirty="0"/>
          </a:p>
        </p:txBody>
      </p:sp>
      <p:sp>
        <p:nvSpPr>
          <p:cNvPr id="8" name="Content Placeholder 5">
            <a:extLst>
              <a:ext uri="{FF2B5EF4-FFF2-40B4-BE49-F238E27FC236}">
                <a16:creationId xmlns:a16="http://schemas.microsoft.com/office/drawing/2014/main" id="{B0B2BDEC-BCDB-8BEA-8E90-AB6793F0288C}"/>
              </a:ext>
            </a:extLst>
          </p:cNvPr>
          <p:cNvSpPr>
            <a:spLocks noGrp="1"/>
          </p:cNvSpPr>
          <p:nvPr>
            <p:ph sz="half" idx="2"/>
          </p:nvPr>
        </p:nvSpPr>
        <p:spPr>
          <a:xfrm>
            <a:off x="1103313" y="1200150"/>
            <a:ext cx="7597775" cy="5056188"/>
          </a:xfrm>
        </p:spPr>
        <p:txBody>
          <a:bodyPr>
            <a:normAutofit/>
          </a:bodyPr>
          <a:lstStyle/>
          <a:p>
            <a:r>
              <a:rPr lang="en-IN" sz="2000" b="1" dirty="0"/>
              <a:t>OOP &amp; Exception Handling</a:t>
            </a:r>
          </a:p>
          <a:p>
            <a:pPr lvl="0"/>
            <a:r>
              <a:rPr lang="en-IN" sz="2000" b="1" dirty="0"/>
              <a:t>Abstraction &amp; Interfaces:</a:t>
            </a:r>
            <a:r>
              <a:rPr lang="en-IN" sz="2000" dirty="0"/>
              <a:t> Standardized base designs using abstract class Vehicle and contract implementation via interface ParkingOperations.</a:t>
            </a:r>
          </a:p>
          <a:p>
            <a:pPr lvl="0"/>
            <a:r>
              <a:rPr lang="en-IN" sz="2000" b="1" dirty="0"/>
              <a:t>Inheritance &amp; Hierarchy:</a:t>
            </a:r>
            <a:r>
              <a:rPr lang="en-IN" sz="2000" dirty="0"/>
              <a:t> Code reuse in derived classes (Car, </a:t>
            </a:r>
            <a:r>
              <a:rPr lang="en-IN" sz="2000" dirty="0" err="1"/>
              <a:t>ElectricCar</a:t>
            </a:r>
            <a:r>
              <a:rPr lang="en-IN" sz="2000" dirty="0"/>
              <a:t>) using super() constructor calls.</a:t>
            </a:r>
          </a:p>
          <a:p>
            <a:pPr lvl="0"/>
            <a:r>
              <a:rPr lang="en-IN" sz="2000" b="1" dirty="0"/>
              <a:t>Encapsulation &amp; Polymorphism:</a:t>
            </a:r>
            <a:r>
              <a:rPr lang="en-IN" sz="2000" dirty="0"/>
              <a:t> Data hiding with private fields/accessors and dynamic </a:t>
            </a:r>
            <a:r>
              <a:rPr lang="en-IN" sz="2000" dirty="0" err="1"/>
              <a:t>behavior</a:t>
            </a:r>
            <a:r>
              <a:rPr lang="en-IN" sz="2000" dirty="0"/>
              <a:t> through method overriding (</a:t>
            </a:r>
            <a:r>
              <a:rPr lang="en-IN" sz="2000" dirty="0" err="1"/>
              <a:t>calculateFee</a:t>
            </a:r>
            <a:r>
              <a:rPr lang="en-IN" sz="2000" dirty="0"/>
              <a:t>(), </a:t>
            </a:r>
            <a:r>
              <a:rPr lang="en-IN" sz="2000" dirty="0" err="1"/>
              <a:t>toString</a:t>
            </a:r>
            <a:r>
              <a:rPr lang="en-IN" sz="2000" dirty="0"/>
              <a:t>()).</a:t>
            </a:r>
          </a:p>
          <a:p>
            <a:pPr lvl="0"/>
            <a:r>
              <a:rPr lang="en-IN" sz="2000" b="1" dirty="0"/>
              <a:t>Static Members:</a:t>
            </a:r>
            <a:r>
              <a:rPr lang="en-IN" sz="2000" dirty="0"/>
              <a:t> Class-level state tracking (</a:t>
            </a:r>
            <a:r>
              <a:rPr lang="en-IN" sz="2000" dirty="0" err="1"/>
              <a:t>totalCars</a:t>
            </a:r>
            <a:r>
              <a:rPr lang="en-IN" sz="2000" dirty="0"/>
              <a:t>, </a:t>
            </a:r>
            <a:r>
              <a:rPr lang="en-IN" sz="2000" dirty="0" err="1"/>
              <a:t>totalEVs</a:t>
            </a:r>
            <a:r>
              <a:rPr lang="en-IN" sz="2000" dirty="0"/>
              <a:t>) independent of individual instances.</a:t>
            </a:r>
          </a:p>
          <a:p>
            <a:pPr lvl="0"/>
            <a:r>
              <a:rPr lang="en-IN" sz="2000" b="1" dirty="0"/>
              <a:t>Custom Exceptions:</a:t>
            </a:r>
            <a:r>
              <a:rPr lang="en-IN" sz="2000" dirty="0"/>
              <a:t> Explicit error handling using </a:t>
            </a:r>
            <a:r>
              <a:rPr lang="en-IN" sz="2000" dirty="0" err="1"/>
              <a:t>InvalidSlotException</a:t>
            </a:r>
            <a:r>
              <a:rPr lang="en-IN" sz="2000" dirty="0"/>
              <a:t>, throw, throws, and multi-catch try-catch blocks.</a:t>
            </a:r>
          </a:p>
          <a:p>
            <a:endParaRPr lang="en-IN" sz="2000" dirty="0"/>
          </a:p>
        </p:txBody>
      </p:sp>
    </p:spTree>
    <p:extLst>
      <p:ext uri="{BB962C8B-B14F-4D97-AF65-F5344CB8AC3E}">
        <p14:creationId xmlns:p14="http://schemas.microsoft.com/office/powerpoint/2010/main" val="2586306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F3BA73-56CB-3023-2164-DBC16AFE32C8}"/>
              </a:ext>
            </a:extLst>
          </p:cNvPr>
          <p:cNvSpPr>
            <a:spLocks noGrp="1"/>
          </p:cNvSpPr>
          <p:nvPr>
            <p:ph type="title"/>
          </p:nvPr>
        </p:nvSpPr>
        <p:spPr>
          <a:xfrm>
            <a:off x="646111" y="452718"/>
            <a:ext cx="9404723" cy="923798"/>
          </a:xfrm>
        </p:spPr>
        <p:txBody>
          <a:bodyPr/>
          <a:lstStyle/>
          <a:p>
            <a:r>
              <a:rPr lang="en-IN" dirty="0">
                <a:latin typeface="Bahnschrift" panose="020B0502040204020203" pitchFamily="34" charset="0"/>
              </a:rPr>
              <a:t>CO 5 Topics</a:t>
            </a:r>
            <a:endParaRPr lang="en-IN" dirty="0"/>
          </a:p>
        </p:txBody>
      </p:sp>
      <p:sp>
        <p:nvSpPr>
          <p:cNvPr id="4" name="Content Placeholder 3">
            <a:extLst>
              <a:ext uri="{FF2B5EF4-FFF2-40B4-BE49-F238E27FC236}">
                <a16:creationId xmlns:a16="http://schemas.microsoft.com/office/drawing/2014/main" id="{1D4D101C-1461-E8AF-1E94-FA0E26B53656}"/>
              </a:ext>
            </a:extLst>
          </p:cNvPr>
          <p:cNvSpPr>
            <a:spLocks noGrp="1"/>
          </p:cNvSpPr>
          <p:nvPr>
            <p:ph sz="half" idx="2"/>
          </p:nvPr>
        </p:nvSpPr>
        <p:spPr>
          <a:xfrm>
            <a:off x="646111" y="1376516"/>
            <a:ext cx="7268857" cy="4434349"/>
          </a:xfrm>
        </p:spPr>
        <p:txBody>
          <a:bodyPr>
            <a:normAutofit/>
          </a:bodyPr>
          <a:lstStyle/>
          <a:p>
            <a:r>
              <a:rPr lang="en-IN" sz="2000" b="1" dirty="0"/>
              <a:t>Strings, Algorithms &amp; File I/O</a:t>
            </a:r>
          </a:p>
          <a:p>
            <a:pPr lvl="0"/>
            <a:r>
              <a:rPr lang="en-IN" sz="2000" b="1" dirty="0"/>
              <a:t>String Processing:</a:t>
            </a:r>
            <a:r>
              <a:rPr lang="en-IN" sz="2000" dirty="0"/>
              <a:t> Reference (==) vs. value (equals()) checks, tokenization (split(), trim(), join()), and memory-efficient StringBuilder.</a:t>
            </a:r>
          </a:p>
          <a:p>
            <a:pPr lvl="0"/>
            <a:r>
              <a:rPr lang="en-IN" sz="2000" b="1" dirty="0"/>
              <a:t>Object Sorting:</a:t>
            </a:r>
            <a:r>
              <a:rPr lang="en-IN" sz="2000" dirty="0"/>
              <a:t> Domain ordering using the Comparable&lt;Vehicle&gt; interface with </a:t>
            </a:r>
            <a:r>
              <a:rPr lang="en-IN" sz="2000" dirty="0" err="1"/>
              <a:t>Collections.sort</a:t>
            </a:r>
            <a:r>
              <a:rPr lang="en-IN" sz="2000" dirty="0"/>
              <a:t>().</a:t>
            </a:r>
          </a:p>
          <a:p>
            <a:pPr lvl="0"/>
            <a:r>
              <a:rPr lang="en-IN" sz="2000" b="1" dirty="0"/>
              <a:t>Modern File Handling:</a:t>
            </a:r>
            <a:r>
              <a:rPr lang="en-IN" sz="2000" dirty="0"/>
              <a:t> NIO path manipulation (Path, Files) for buffered reading and writing.</a:t>
            </a:r>
          </a:p>
          <a:p>
            <a:pPr lvl="0"/>
            <a:r>
              <a:rPr lang="en-IN" sz="2000" b="1" dirty="0"/>
              <a:t>Resource Safety:</a:t>
            </a:r>
            <a:r>
              <a:rPr lang="en-IN" sz="2000" dirty="0"/>
              <a:t> Automatic stream and file resource cleanup using try-with-resources.</a:t>
            </a:r>
          </a:p>
          <a:p>
            <a:endParaRPr lang="en-IN" sz="2000" dirty="0"/>
          </a:p>
        </p:txBody>
      </p:sp>
    </p:spTree>
    <p:extLst>
      <p:ext uri="{BB962C8B-B14F-4D97-AF65-F5344CB8AC3E}">
        <p14:creationId xmlns:p14="http://schemas.microsoft.com/office/powerpoint/2010/main" val="23735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A0253C-7960-D305-7589-BD359098436A}"/>
              </a:ext>
            </a:extLst>
          </p:cNvPr>
          <p:cNvSpPr>
            <a:spLocks noGrp="1"/>
          </p:cNvSpPr>
          <p:nvPr>
            <p:ph type="title"/>
          </p:nvPr>
        </p:nvSpPr>
        <p:spPr/>
        <p:txBody>
          <a:bodyPr/>
          <a:lstStyle/>
          <a:p>
            <a:r>
              <a:rPr lang="en-IN" dirty="0">
                <a:latin typeface="Bahnschrift" panose="020B0502040204020203" pitchFamily="34" charset="0"/>
              </a:rPr>
              <a:t>CO 6 Topics</a:t>
            </a:r>
            <a:endParaRPr lang="en-IN" dirty="0"/>
          </a:p>
        </p:txBody>
      </p:sp>
      <p:sp>
        <p:nvSpPr>
          <p:cNvPr id="4" name="Content Placeholder 3">
            <a:extLst>
              <a:ext uri="{FF2B5EF4-FFF2-40B4-BE49-F238E27FC236}">
                <a16:creationId xmlns:a16="http://schemas.microsoft.com/office/drawing/2014/main" id="{7B56DA82-01BE-3D55-86B4-F2F833E01548}"/>
              </a:ext>
            </a:extLst>
          </p:cNvPr>
          <p:cNvSpPr>
            <a:spLocks noGrp="1"/>
          </p:cNvSpPr>
          <p:nvPr>
            <p:ph sz="half" idx="2"/>
          </p:nvPr>
        </p:nvSpPr>
        <p:spPr>
          <a:xfrm>
            <a:off x="825910" y="1258529"/>
            <a:ext cx="5437238" cy="4997809"/>
          </a:xfrm>
        </p:spPr>
        <p:txBody>
          <a:bodyPr>
            <a:normAutofit lnSpcReduction="10000"/>
          </a:bodyPr>
          <a:lstStyle/>
          <a:p>
            <a:r>
              <a:rPr lang="en-IN" b="1" dirty="0"/>
              <a:t>Functional Programming &amp; Streams</a:t>
            </a:r>
          </a:p>
          <a:p>
            <a:pPr lvl="0"/>
            <a:r>
              <a:rPr lang="en-IN" b="1" dirty="0"/>
              <a:t>Generic Collections:</a:t>
            </a:r>
            <a:r>
              <a:rPr lang="en-IN" dirty="0"/>
              <a:t> Type-safe data handling with List&lt;Vehicle&gt; and Set&lt;String&gt;.</a:t>
            </a:r>
          </a:p>
          <a:p>
            <a:pPr lvl="0"/>
            <a:r>
              <a:rPr lang="en-IN" b="1" dirty="0"/>
              <a:t>Functional Contracts:</a:t>
            </a:r>
            <a:r>
              <a:rPr lang="en-IN" dirty="0"/>
              <a:t> </a:t>
            </a:r>
            <a:r>
              <a:rPr lang="en-IN" dirty="0" err="1"/>
              <a:t>Behavior</a:t>
            </a:r>
            <a:r>
              <a:rPr lang="en-IN" dirty="0"/>
              <a:t> parameterization using Predicate, Function, Consumer, and Supplier.</a:t>
            </a:r>
          </a:p>
          <a:p>
            <a:pPr lvl="0"/>
            <a:r>
              <a:rPr lang="en-IN" b="1" dirty="0"/>
              <a:t>Declarative Processing:</a:t>
            </a:r>
            <a:r>
              <a:rPr lang="en-IN" dirty="0"/>
              <a:t> Concise operations via Lambda expressions (-&gt;) and method references (Vehicle::</a:t>
            </a:r>
            <a:r>
              <a:rPr lang="en-IN" dirty="0" err="1"/>
              <a:t>getPlateNo</a:t>
            </a:r>
            <a:r>
              <a:rPr lang="en-IN" dirty="0"/>
              <a:t>).</a:t>
            </a:r>
          </a:p>
          <a:p>
            <a:pPr lvl="0"/>
            <a:r>
              <a:rPr lang="en-IN" b="1" dirty="0"/>
              <a:t>Stream Pipelines:</a:t>
            </a:r>
            <a:r>
              <a:rPr lang="en-IN" dirty="0"/>
              <a:t> Data transformation sequences using intermediate (filter, map, sorted) and terminal (</a:t>
            </a:r>
            <a:r>
              <a:rPr lang="en-IN" dirty="0" err="1"/>
              <a:t>forEach</a:t>
            </a:r>
            <a:r>
              <a:rPr lang="en-IN" dirty="0"/>
              <a:t>, average, collect) operations.</a:t>
            </a:r>
          </a:p>
          <a:p>
            <a:pPr lvl="0"/>
            <a:r>
              <a:rPr lang="en-IN" b="1" dirty="0"/>
              <a:t>Aggregations &amp; File Streams:</a:t>
            </a:r>
            <a:r>
              <a:rPr lang="en-IN" dirty="0"/>
              <a:t> Summarizing metrics with </a:t>
            </a:r>
            <a:r>
              <a:rPr lang="en-IN" dirty="0" err="1"/>
              <a:t>Collectors.groupingBy</a:t>
            </a:r>
            <a:r>
              <a:rPr lang="en-IN" dirty="0"/>
              <a:t>() and reading lines directly using </a:t>
            </a:r>
            <a:r>
              <a:rPr lang="en-IN" dirty="0" err="1"/>
              <a:t>Files.lines</a:t>
            </a:r>
            <a:r>
              <a:rPr lang="en-IN" dirty="0"/>
              <a:t>().</a:t>
            </a:r>
          </a:p>
          <a:p>
            <a:endParaRPr lang="en-IN" dirty="0"/>
          </a:p>
        </p:txBody>
      </p:sp>
    </p:spTree>
    <p:extLst>
      <p:ext uri="{BB962C8B-B14F-4D97-AF65-F5344CB8AC3E}">
        <p14:creationId xmlns:p14="http://schemas.microsoft.com/office/powerpoint/2010/main" val="33567353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95CBA08-E496-02C5-D343-4A46E72A0E66}"/>
              </a:ext>
            </a:extLst>
          </p:cNvPr>
          <p:cNvSpPr>
            <a:spLocks noGrp="1"/>
          </p:cNvSpPr>
          <p:nvPr>
            <p:ph type="title"/>
          </p:nvPr>
        </p:nvSpPr>
        <p:spPr/>
        <p:txBody>
          <a:bodyPr/>
          <a:lstStyle/>
          <a:p>
            <a:r>
              <a:rPr lang="en-IN" dirty="0"/>
              <a:t>Git Hub LINK</a:t>
            </a:r>
          </a:p>
        </p:txBody>
      </p:sp>
      <p:sp>
        <p:nvSpPr>
          <p:cNvPr id="5" name="Content Placeholder 4">
            <a:extLst>
              <a:ext uri="{FF2B5EF4-FFF2-40B4-BE49-F238E27FC236}">
                <a16:creationId xmlns:a16="http://schemas.microsoft.com/office/drawing/2014/main" id="{6116B221-4D36-8A46-8E3E-0F8D43E0A8FC}"/>
              </a:ext>
            </a:extLst>
          </p:cNvPr>
          <p:cNvSpPr>
            <a:spLocks noGrp="1"/>
          </p:cNvSpPr>
          <p:nvPr>
            <p:ph idx="1"/>
          </p:nvPr>
        </p:nvSpPr>
        <p:spPr/>
        <p:txBody>
          <a:bodyPr/>
          <a:lstStyle/>
          <a:p>
            <a:r>
              <a:rPr lang="en-IN" dirty="0">
                <a:hlinkClick r:id="rId2"/>
              </a:rPr>
              <a:t>https://github.com/vankayalapatisyanthanapriya-gif/Multi-Level-Parking-Lot-Manager</a:t>
            </a:r>
            <a:endParaRPr lang="en-IN" dirty="0"/>
          </a:p>
          <a:p>
            <a:endParaRPr lang="en-IN" dirty="0"/>
          </a:p>
        </p:txBody>
      </p:sp>
    </p:spTree>
    <p:extLst>
      <p:ext uri="{BB962C8B-B14F-4D97-AF65-F5344CB8AC3E}">
        <p14:creationId xmlns:p14="http://schemas.microsoft.com/office/powerpoint/2010/main" val="26203986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D0C1BCD-98D5-EBE0-9ACE-3E597AE81C88}"/>
              </a:ext>
            </a:extLst>
          </p:cNvPr>
          <p:cNvSpPr txBox="1"/>
          <p:nvPr/>
        </p:nvSpPr>
        <p:spPr>
          <a:xfrm>
            <a:off x="4582160" y="2567225"/>
            <a:ext cx="3027680" cy="1723549"/>
          </a:xfrm>
          <a:prstGeom prst="rect">
            <a:avLst/>
          </a:prstGeom>
          <a:noFill/>
        </p:spPr>
        <p:txBody>
          <a:bodyPr wrap="square" rtlCol="0">
            <a:spAutoFit/>
          </a:bodyPr>
          <a:lstStyle/>
          <a:p>
            <a:r>
              <a:rPr lang="en-IN" sz="4000" dirty="0">
                <a:latin typeface="Bahnschrift Condensed" panose="020B0502040204020203" pitchFamily="34" charset="0"/>
              </a:rPr>
              <a:t>  </a:t>
            </a:r>
            <a:r>
              <a:rPr lang="en-IN" sz="6600" dirty="0">
                <a:latin typeface="Bahnschrift Condensed" panose="020B0502040204020203" pitchFamily="34" charset="0"/>
              </a:rPr>
              <a:t>THANKYOU</a:t>
            </a:r>
          </a:p>
        </p:txBody>
      </p:sp>
    </p:spTree>
    <p:extLst>
      <p:ext uri="{BB962C8B-B14F-4D97-AF65-F5344CB8AC3E}">
        <p14:creationId xmlns:p14="http://schemas.microsoft.com/office/powerpoint/2010/main" val="297659763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243</TotalTime>
  <Words>988</Words>
  <Application>Microsoft Office PowerPoint</Application>
  <PresentationFormat>Widescreen</PresentationFormat>
  <Paragraphs>114</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Bahnschrift</vt:lpstr>
      <vt:lpstr>Bahnschrift Condensed</vt:lpstr>
      <vt:lpstr>Bahnschrift SemiBold Condensed</vt:lpstr>
      <vt:lpstr>Century Gothic</vt:lpstr>
      <vt:lpstr>Wingdings 3</vt:lpstr>
      <vt:lpstr>Ion</vt:lpstr>
      <vt:lpstr>Multi-Level Parking Lot Manager program </vt:lpstr>
      <vt:lpstr>Abstract</vt:lpstr>
      <vt:lpstr>📝 Understanding Problem Statement</vt:lpstr>
      <vt:lpstr>CO 1 Topics</vt:lpstr>
      <vt:lpstr>CO 2 Topics</vt:lpstr>
      <vt:lpstr>CO 3 Topics</vt:lpstr>
      <vt:lpstr>CO 4 Topics</vt:lpstr>
      <vt:lpstr>CO 5 Topics</vt:lpstr>
      <vt:lpstr>CO 6 Topics</vt:lpstr>
      <vt:lpstr>Git Hub LINK</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Syanthana Priya Vankayalapati</dc:creator>
  <cp:lastModifiedBy>Syanthana Priya Vankayalapati</cp:lastModifiedBy>
  <cp:revision>4</cp:revision>
  <dcterms:created xsi:type="dcterms:W3CDTF">2026-09-21T15:32:58Z</dcterms:created>
  <dcterms:modified xsi:type="dcterms:W3CDTF">2026-10-15T13:08:56Z</dcterms:modified>
</cp:coreProperties>
</file>